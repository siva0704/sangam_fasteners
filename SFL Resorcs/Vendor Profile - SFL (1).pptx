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7" r:id="rId5"/>
    <p:sldId id="259" r:id="rId6"/>
    <p:sldId id="264" r:id="rId7"/>
    <p:sldId id="265" r:id="rId8"/>
    <p:sldId id="266" r:id="rId9"/>
    <p:sldId id="263" r:id="rId10"/>
    <p:sldId id="261" r:id="rId11"/>
    <p:sldId id="262" r:id="rId12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7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0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0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2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27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C810D41-B882-4DC3-ACA9-3A063E1E7BE3}"/>
              </a:ext>
            </a:extLst>
          </p:cNvPr>
          <p:cNvCxnSpPr/>
          <p:nvPr userDrawn="1"/>
        </p:nvCxnSpPr>
        <p:spPr>
          <a:xfrm>
            <a:off x="0" y="545123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86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5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4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5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6515-F313-46B4-A3D1-566671ABB99C}" type="datetimeFigureOut">
              <a:rPr lang="en-US" smtClean="0"/>
              <a:t>5/21/2024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21BCB-9457-4C63-B06F-FE7ADF8A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3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12" Type="http://schemas.openxmlformats.org/officeDocument/2006/relationships/image" Target="../media/image3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24.jpeg"/><Relationship Id="rId10" Type="http://schemas.openxmlformats.org/officeDocument/2006/relationships/image" Target="../media/image29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EB54903E-F4F3-430C-9171-9812C25A0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594874"/>
              </p:ext>
            </p:extLst>
          </p:nvPr>
        </p:nvGraphicFramePr>
        <p:xfrm>
          <a:off x="362997" y="941607"/>
          <a:ext cx="5363104" cy="22384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7083">
                  <a:extLst>
                    <a:ext uri="{9D8B030D-6E8A-4147-A177-3AD203B41FA5}">
                      <a16:colId xmlns:a16="http://schemas.microsoft.com/office/drawing/2014/main" xmlns="" val="3208295661"/>
                    </a:ext>
                  </a:extLst>
                </a:gridCol>
                <a:gridCol w="1268126">
                  <a:extLst>
                    <a:ext uri="{9D8B030D-6E8A-4147-A177-3AD203B41FA5}">
                      <a16:colId xmlns:a16="http://schemas.microsoft.com/office/drawing/2014/main" xmlns="" val="3900619542"/>
                    </a:ext>
                  </a:extLst>
                </a:gridCol>
                <a:gridCol w="1284045">
                  <a:extLst>
                    <a:ext uri="{9D8B030D-6E8A-4147-A177-3AD203B41FA5}">
                      <a16:colId xmlns:a16="http://schemas.microsoft.com/office/drawing/2014/main" xmlns="" val="1452620017"/>
                    </a:ext>
                  </a:extLst>
                </a:gridCol>
                <a:gridCol w="1263850">
                  <a:extLst>
                    <a:ext uri="{9D8B030D-6E8A-4147-A177-3AD203B41FA5}">
                      <a16:colId xmlns:a16="http://schemas.microsoft.com/office/drawing/2014/main" xmlns="" val="3667118735"/>
                    </a:ext>
                  </a:extLst>
                </a:gridCol>
              </a:tblGrid>
              <a:tr h="409689">
                <a:tc>
                  <a:txBody>
                    <a:bodyPr/>
                    <a:lstStyle/>
                    <a:p>
                      <a:r>
                        <a:rPr lang="en-US" b="0" dirty="0"/>
                        <a:t>Vendor Name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b="1" dirty="0" smtClean="0"/>
                        <a:t>SANGAM FASTNERS PVT LTD</a:t>
                      </a:r>
                      <a:endParaRPr lang="en-US" sz="16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8884860"/>
                  </a:ext>
                </a:extLst>
              </a:tr>
              <a:tr h="312566">
                <a:tc>
                  <a:txBody>
                    <a:bodyPr/>
                    <a:lstStyle/>
                    <a:p>
                      <a:r>
                        <a:rPr lang="en-US" b="0" dirty="0"/>
                        <a:t>MD Name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600" dirty="0" err="1" smtClean="0"/>
                        <a:t>Mr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baseline="0" dirty="0" err="1" smtClean="0"/>
                        <a:t>Sangmesh</a:t>
                      </a:r>
                      <a:r>
                        <a:rPr lang="en-US" sz="1600" baseline="0" dirty="0" smtClean="0"/>
                        <a:t> I </a:t>
                      </a:r>
                      <a:r>
                        <a:rPr lang="en-US" sz="1600" baseline="0" dirty="0" err="1" smtClean="0"/>
                        <a:t>Handigol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3790199"/>
                  </a:ext>
                </a:extLst>
              </a:tr>
              <a:tr h="312566">
                <a:tc>
                  <a:txBody>
                    <a:bodyPr/>
                    <a:lstStyle/>
                    <a:p>
                      <a:r>
                        <a:rPr lang="en-US" b="0" dirty="0"/>
                        <a:t>Category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800" dirty="0" smtClean="0"/>
                        <a:t>Medium</a:t>
                      </a:r>
                      <a:endParaRPr 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61459016"/>
                  </a:ext>
                </a:extLst>
              </a:tr>
              <a:tr h="409689">
                <a:tc>
                  <a:txBody>
                    <a:bodyPr/>
                    <a:lstStyle/>
                    <a:p>
                      <a:r>
                        <a:rPr lang="en-US" b="0" dirty="0"/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120 No’s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62912315"/>
                  </a:ext>
                </a:extLst>
              </a:tr>
              <a:tr h="357227">
                <a:tc>
                  <a:txBody>
                    <a:bodyPr/>
                    <a:lstStyle/>
                    <a:p>
                      <a:pPr algn="l"/>
                      <a:r>
                        <a:rPr lang="en-US" b="0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From </a:t>
                      </a:r>
                      <a:r>
                        <a:rPr lang="en-US" sz="1400" dirty="0" smtClean="0"/>
                        <a:t>SIEL:15KM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From </a:t>
                      </a:r>
                      <a:r>
                        <a:rPr lang="en-US" sz="1400" dirty="0" smtClean="0"/>
                        <a:t>Airport:8kM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MD Photo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064242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C5218C7D-1101-4492-B4BB-97F2EFF2F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951592"/>
              </p:ext>
            </p:extLst>
          </p:nvPr>
        </p:nvGraphicFramePr>
        <p:xfrm>
          <a:off x="362997" y="3478980"/>
          <a:ext cx="5371980" cy="1114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5330">
                  <a:extLst>
                    <a:ext uri="{9D8B030D-6E8A-4147-A177-3AD203B41FA5}">
                      <a16:colId xmlns:a16="http://schemas.microsoft.com/office/drawing/2014/main" xmlns="" val="551566887"/>
                    </a:ext>
                  </a:extLst>
                </a:gridCol>
                <a:gridCol w="1116383">
                  <a:extLst>
                    <a:ext uri="{9D8B030D-6E8A-4147-A177-3AD203B41FA5}">
                      <a16:colId xmlns:a16="http://schemas.microsoft.com/office/drawing/2014/main" xmlns="" val="863769211"/>
                    </a:ext>
                  </a:extLst>
                </a:gridCol>
                <a:gridCol w="1201003">
                  <a:extLst>
                    <a:ext uri="{9D8B030D-6E8A-4147-A177-3AD203B41FA5}">
                      <a16:colId xmlns:a16="http://schemas.microsoft.com/office/drawing/2014/main" xmlns="" val="1365471257"/>
                    </a:ext>
                  </a:extLst>
                </a:gridCol>
                <a:gridCol w="573206">
                  <a:extLst>
                    <a:ext uri="{9D8B030D-6E8A-4147-A177-3AD203B41FA5}">
                      <a16:colId xmlns:a16="http://schemas.microsoft.com/office/drawing/2014/main" xmlns="" val="2118942487"/>
                    </a:ext>
                  </a:extLst>
                </a:gridCol>
                <a:gridCol w="690728">
                  <a:extLst>
                    <a:ext uri="{9D8B030D-6E8A-4147-A177-3AD203B41FA5}">
                      <a16:colId xmlns:a16="http://schemas.microsoft.com/office/drawing/2014/main" xmlns="" val="1390364685"/>
                    </a:ext>
                  </a:extLst>
                </a:gridCol>
                <a:gridCol w="895330">
                  <a:extLst>
                    <a:ext uri="{9D8B030D-6E8A-4147-A177-3AD203B41FA5}">
                      <a16:colId xmlns:a16="http://schemas.microsoft.com/office/drawing/2014/main" xmlns="" val="69910980"/>
                    </a:ext>
                  </a:extLst>
                </a:gridCol>
              </a:tblGrid>
              <a:tr h="383336">
                <a:tc>
                  <a:txBody>
                    <a:bodyPr/>
                    <a:lstStyle/>
                    <a:p>
                      <a:r>
                        <a:rPr lang="en-US" b="1" dirty="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2022-23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2023-24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0299070"/>
                  </a:ext>
                </a:extLst>
              </a:tr>
              <a:tr h="328368">
                <a:tc>
                  <a:txBody>
                    <a:bodyPr/>
                    <a:lstStyle/>
                    <a:p>
                      <a:r>
                        <a:rPr lang="en-US" dirty="0"/>
                        <a:t>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4000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4800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473787"/>
                  </a:ext>
                </a:extLst>
              </a:tr>
              <a:tr h="328368">
                <a:tc>
                  <a:txBody>
                    <a:bodyPr/>
                    <a:lstStyle/>
                    <a:p>
                      <a:r>
                        <a:rPr lang="en-US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583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693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032889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43A2F8C-3739-4CEE-85FD-B9CB5154A836}"/>
              </a:ext>
            </a:extLst>
          </p:cNvPr>
          <p:cNvSpPr txBox="1"/>
          <p:nvPr/>
        </p:nvSpPr>
        <p:spPr>
          <a:xfrm>
            <a:off x="275209" y="545641"/>
            <a:ext cx="17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FF"/>
                </a:solidFill>
              </a:rPr>
              <a:t>Vendor Info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8FE0D28-8D8E-46AA-9875-4BCD12E4DE45}"/>
              </a:ext>
            </a:extLst>
          </p:cNvPr>
          <p:cNvSpPr txBox="1"/>
          <p:nvPr/>
        </p:nvSpPr>
        <p:spPr>
          <a:xfrm>
            <a:off x="311628" y="3109648"/>
            <a:ext cx="2780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FF"/>
                </a:solidFill>
              </a:rPr>
              <a:t>Sales Details  (INR/Lacs)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C523FFF-90DC-48B9-9D9E-EF5DC863DCE3}"/>
              </a:ext>
            </a:extLst>
          </p:cNvPr>
          <p:cNvSpPr txBox="1"/>
          <p:nvPr/>
        </p:nvSpPr>
        <p:spPr>
          <a:xfrm>
            <a:off x="311628" y="4834596"/>
            <a:ext cx="1638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FF"/>
                </a:solidFill>
              </a:rPr>
              <a:t>Major Items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xmlns="" id="{473C7279-D666-4EDE-ABAB-FEC7BC0C4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338680"/>
              </p:ext>
            </p:extLst>
          </p:nvPr>
        </p:nvGraphicFramePr>
        <p:xfrm>
          <a:off x="311627" y="5029200"/>
          <a:ext cx="5423349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3392">
                  <a:extLst>
                    <a:ext uri="{9D8B030D-6E8A-4147-A177-3AD203B41FA5}">
                      <a16:colId xmlns:a16="http://schemas.microsoft.com/office/drawing/2014/main" xmlns="" val="551566887"/>
                    </a:ext>
                  </a:extLst>
                </a:gridCol>
                <a:gridCol w="4319957">
                  <a:extLst>
                    <a:ext uri="{9D8B030D-6E8A-4147-A177-3AD203B41FA5}">
                      <a16:colId xmlns:a16="http://schemas.microsoft.com/office/drawing/2014/main" xmlns="" val="86376921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b="1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Major Parts Supplies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029907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Fasteners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File</a:t>
                      </a:r>
                      <a:r>
                        <a:rPr lang="en-US" sz="1800" baseline="0" dirty="0" smtClean="0"/>
                        <a:t> attached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032889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Shaft’s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File</a:t>
                      </a:r>
                      <a:r>
                        <a:rPr lang="en-US" sz="1800" baseline="0" dirty="0" smtClean="0"/>
                        <a:t> attached</a:t>
                      </a:r>
                      <a:endParaRPr lang="en-US" sz="1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559826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5332139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93E691D-574F-4400-910D-D234A48C3509}"/>
              </a:ext>
            </a:extLst>
          </p:cNvPr>
          <p:cNvSpPr txBox="1"/>
          <p:nvPr/>
        </p:nvSpPr>
        <p:spPr>
          <a:xfrm>
            <a:off x="6313504" y="572275"/>
            <a:ext cx="207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FF"/>
                </a:solidFill>
              </a:rPr>
              <a:t>Company Image: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3FEB0D44-61C7-450F-A301-A58B2E949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277386"/>
              </p:ext>
            </p:extLst>
          </p:nvPr>
        </p:nvGraphicFramePr>
        <p:xfrm>
          <a:off x="6392415" y="952343"/>
          <a:ext cx="5530296" cy="1801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7096">
                  <a:extLst>
                    <a:ext uri="{9D8B030D-6E8A-4147-A177-3AD203B41FA5}">
                      <a16:colId xmlns:a16="http://schemas.microsoft.com/office/drawing/2014/main" xmlns="" val="320829566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3900619542"/>
                    </a:ext>
                  </a:extLst>
                </a:gridCol>
              </a:tblGrid>
              <a:tr h="1801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Out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Shop floor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888486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xmlns="" id="{C1620A3A-DD60-4D75-9E46-C90B3DC7A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35366"/>
              </p:ext>
            </p:extLst>
          </p:nvPr>
        </p:nvGraphicFramePr>
        <p:xfrm>
          <a:off x="6418225" y="3312459"/>
          <a:ext cx="5523565" cy="3174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6381">
                  <a:extLst>
                    <a:ext uri="{9D8B030D-6E8A-4147-A177-3AD203B41FA5}">
                      <a16:colId xmlns:a16="http://schemas.microsoft.com/office/drawing/2014/main" xmlns="" val="551566887"/>
                    </a:ext>
                  </a:extLst>
                </a:gridCol>
                <a:gridCol w="1534945">
                  <a:extLst>
                    <a:ext uri="{9D8B030D-6E8A-4147-A177-3AD203B41FA5}">
                      <a16:colId xmlns:a16="http://schemas.microsoft.com/office/drawing/2014/main" xmlns="" val="863769211"/>
                    </a:ext>
                  </a:extLst>
                </a:gridCol>
                <a:gridCol w="1322239">
                  <a:extLst>
                    <a:ext uri="{9D8B030D-6E8A-4147-A177-3AD203B41FA5}">
                      <a16:colId xmlns:a16="http://schemas.microsoft.com/office/drawing/2014/main" xmlns="" val="1365471257"/>
                    </a:ext>
                  </a:extLst>
                </a:gridCol>
              </a:tblGrid>
              <a:tr h="352855">
                <a:tc>
                  <a:txBody>
                    <a:bodyPr/>
                    <a:lstStyle/>
                    <a:p>
                      <a:r>
                        <a:rPr lang="en-US" b="1" dirty="0"/>
                        <a:t>Details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0299070"/>
                  </a:ext>
                </a:extLst>
              </a:tr>
              <a:tr h="352855">
                <a:tc>
                  <a:txBody>
                    <a:bodyPr/>
                    <a:lstStyle/>
                    <a:p>
                      <a:r>
                        <a:rPr lang="en-US" dirty="0"/>
                        <a:t>Type (Own/Rent)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Own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8789103"/>
                  </a:ext>
                </a:extLst>
              </a:tr>
              <a:tr h="352855">
                <a:tc>
                  <a:txBody>
                    <a:bodyPr/>
                    <a:lstStyle/>
                    <a:p>
                      <a:r>
                        <a:rPr lang="en-US" dirty="0"/>
                        <a:t>Build up Area (m²)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20000 m²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473787"/>
                  </a:ext>
                </a:extLst>
              </a:tr>
              <a:tr h="352855">
                <a:tc>
                  <a:txBody>
                    <a:bodyPr/>
                    <a:lstStyle/>
                    <a:p>
                      <a:r>
                        <a:rPr lang="en-US" dirty="0"/>
                        <a:t>Total landed Area (m²)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25000 m²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40328897"/>
                  </a:ext>
                </a:extLst>
              </a:tr>
              <a:tr h="352855">
                <a:tc>
                  <a:txBody>
                    <a:bodyPr/>
                    <a:lstStyle/>
                    <a:p>
                      <a:r>
                        <a:rPr lang="en-US" dirty="0"/>
                        <a:t>Additional WH (Y/N)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10000 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008103"/>
                  </a:ext>
                </a:extLst>
              </a:tr>
              <a:tr h="3702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Elec Power (KVA)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125+65+40+30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7286462"/>
                  </a:ext>
                </a:extLst>
              </a:tr>
              <a:tr h="294046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Machine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List</a:t>
                      </a:r>
                      <a:r>
                        <a:rPr lang="en-US" sz="1400" baseline="0" dirty="0" smtClean="0"/>
                        <a:t> of Machine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File Attached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49007462"/>
                  </a:ext>
                </a:extLst>
              </a:tr>
              <a:tr h="29404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aseline="0" dirty="0" smtClean="0"/>
                        <a:t>List of Instruments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File Attached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1829433"/>
                  </a:ext>
                </a:extLst>
              </a:tr>
              <a:tr h="35285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1763086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82F419D9-AAD2-4CE7-B816-A174517CB742}"/>
              </a:ext>
            </a:extLst>
          </p:cNvPr>
          <p:cNvSpPr txBox="1"/>
          <p:nvPr/>
        </p:nvSpPr>
        <p:spPr>
          <a:xfrm>
            <a:off x="6313504" y="2858265"/>
            <a:ext cx="1745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00FF"/>
                </a:solidFill>
              </a:rPr>
              <a:t>Infra Details 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D8DC6098-1D7C-4BC4-AA8E-929CEBD76AF6}"/>
              </a:ext>
            </a:extLst>
          </p:cNvPr>
          <p:cNvSpPr/>
          <p:nvPr/>
        </p:nvSpPr>
        <p:spPr>
          <a:xfrm>
            <a:off x="275209" y="-58070"/>
            <a:ext cx="386714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Vendor Information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71AE2B52-F4CE-45B4-BE6D-6468767C3446}"/>
              </a:ext>
            </a:extLst>
          </p:cNvPr>
          <p:cNvSpPr/>
          <p:nvPr/>
        </p:nvSpPr>
        <p:spPr>
          <a:xfrm>
            <a:off x="8327636" y="45985"/>
            <a:ext cx="37962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SANGAM FASTNERS PVT LTD</a:t>
            </a:r>
            <a:endParaRPr lang="en-US" sz="2400" b="1" cap="none" spc="0" dirty="0">
              <a:ln w="0"/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294" y="1050878"/>
            <a:ext cx="1147712" cy="1569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OWNLOADS\WhatsApp Image 2024-05-21 at 12.04.31 PM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243" y="1295622"/>
            <a:ext cx="2639120" cy="142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959" y="1295620"/>
            <a:ext cx="2626241" cy="142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3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05" y="133114"/>
            <a:ext cx="10515600" cy="1136128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Our Esteemed Clients</a:t>
            </a:r>
            <a:b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</a:br>
            <a: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For Fasteners</a:t>
            </a:r>
            <a:endParaRPr lang="en-GB" b="1" u="sng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78" y="1608434"/>
            <a:ext cx="2061069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038" y="1594786"/>
            <a:ext cx="2210526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620" y="1594786"/>
            <a:ext cx="2278571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562" y="1594786"/>
            <a:ext cx="2161441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835" y="1594786"/>
            <a:ext cx="2169066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73" y="4187865"/>
            <a:ext cx="2117923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562" y="4187865"/>
            <a:ext cx="2161441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037" y="4187865"/>
            <a:ext cx="2210526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256" y="4187865"/>
            <a:ext cx="2172935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6835" y="4187865"/>
            <a:ext cx="2172933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85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05" y="133114"/>
            <a:ext cx="10515600" cy="1136128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Our Esteemed Clients</a:t>
            </a:r>
            <a:b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</a:br>
            <a: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For Shaft’s and Automotive Part’s</a:t>
            </a:r>
            <a:endParaRPr lang="en-GB" b="1" u="sng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34" y="1635883"/>
            <a:ext cx="1440000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580" y="1635883"/>
            <a:ext cx="1455226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587" y="1650799"/>
            <a:ext cx="3568312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 descr="D:\SIDDHU\sid\Samsung_Logo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076" y="3743356"/>
            <a:ext cx="3568312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 descr="D:\SIDDHU\sid\Haier.White.logo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34" y="392077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:\SIDDHU\sid\Godrej_&amp;_Boyce-Logo.wine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91500" y="-6096000"/>
            <a:ext cx="540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D:\SIDDHU\sid\Godrej_&amp;_Boyce-Logo.wine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364" y="1635883"/>
            <a:ext cx="216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08" y="3920777"/>
            <a:ext cx="3627961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73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05" y="133114"/>
            <a:ext cx="10515600" cy="1332615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SANGAM FASTENERS PLANT PHOTOS</a:t>
            </a:r>
            <a:b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</a:br>
            <a:r>
              <a:rPr lang="en-US" b="1" u="sng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SHOP FLOOR </a:t>
            </a:r>
            <a:endParaRPr lang="en-GB" b="1" u="sng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3080" name="Picture 8" descr="D:\SIDDHU\sid\Godrej_&amp;_Boyce-Logo.win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91500" y="-6096000"/>
            <a:ext cx="5400000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67" y="1573306"/>
            <a:ext cx="135000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203" y="1573306"/>
            <a:ext cx="135000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14" y="1573306"/>
            <a:ext cx="1746997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105" y="1573306"/>
            <a:ext cx="2832848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587" y="1573306"/>
            <a:ext cx="240000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67" y="3832412"/>
            <a:ext cx="135000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976" y="3803606"/>
            <a:ext cx="1746997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3803606"/>
            <a:ext cx="135000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587" y="3803606"/>
            <a:ext cx="1350000" cy="1800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2" name="Picture 307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035" y="3818007"/>
            <a:ext cx="135000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3" name="Picture 307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203" y="3818007"/>
            <a:ext cx="3004380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169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5080" y="19419"/>
            <a:ext cx="9508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Machinery &amp; Equipment's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086226"/>
              </p:ext>
            </p:extLst>
          </p:nvPr>
        </p:nvGraphicFramePr>
        <p:xfrm>
          <a:off x="701721" y="942530"/>
          <a:ext cx="10979417" cy="555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101"/>
                <a:gridCol w="4998192"/>
                <a:gridCol w="2710746"/>
                <a:gridCol w="2273378"/>
              </a:tblGrid>
              <a:tr h="435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Name Of Machine and utilities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Year of Installation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Make</a:t>
                      </a:r>
                      <a:endParaRPr lang="en-GB" dirty="0" smtClean="0"/>
                    </a:p>
                  </a:txBody>
                  <a:tcPr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CIRCULAR SAW CUTTING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ZEAL TECH AUTOMATION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CIRCULAR SAW CUTTING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ZEAL TECH AUTOMATION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 - DRILLING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PRECICUT TOOL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 - DRILLING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STEEL TECH AUTOMATION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MIDAS 6 OLD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GALAXY MIDAS 6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MIDAS NEW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GALAXY MIDAS 6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MEDA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GALAXY MIDAS 6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MIDAS 6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GALAXY MIDAS 6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DRILLING &amp; TAPPING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PRECICUT TOOL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VERTICAL MILLING CENTER GOURAV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GAURAV BMV 35 TC220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VERTICAL MILLING CENTER CHANDRA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CHANDRA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HYDRAULIC THREAD ROLLING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THREAd AID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HYDRAULIC THREAD ROLLING MACHINE OLD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VENKATESHWAR INDUSTRIES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HYDRAULIC PRESSING MACHINE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POLHYDRON PVT LTD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01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5080" y="19419"/>
            <a:ext cx="9508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Machinery &amp; Equipment's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204241"/>
              </p:ext>
            </p:extLst>
          </p:nvPr>
        </p:nvGraphicFramePr>
        <p:xfrm>
          <a:off x="701721" y="942530"/>
          <a:ext cx="10979417" cy="555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101"/>
                <a:gridCol w="4998192"/>
                <a:gridCol w="2710746"/>
                <a:gridCol w="2273378"/>
              </a:tblGrid>
              <a:tr h="435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Name Of Machine and utilities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Year of Installation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Make</a:t>
                      </a:r>
                      <a:endParaRPr lang="en-GB" dirty="0" smtClean="0"/>
                    </a:p>
                  </a:txBody>
                  <a:tcPr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HYDRAULIC PRESSING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LINER ASSEMBLY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sv-S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MEDA 4I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FINISH TURNING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CYLINDRICAL GRINDING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OUTER DIA SURFACE FINISH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MIDAS 6 PLUS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FINISH TURNING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CYLINDRICAL GRINDING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OUTER DIA SURFACE FINISH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TURNING CENTER MIDAS 6 PLUS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FINISH TURNING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CYLINDRICAL GRINDING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OUTER DIA SURFACE FINISH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TROBE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2014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PARTING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HYDRAULIC PRESSING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LINER ASSEMBLY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PUNCHING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2000</a:t>
                      </a: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PUNCHING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BUFFING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BUFFING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DRILLING &amp; TAPPING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DRILLING &amp; TAPPING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SERIES ROTARY SCREW AIR COMPRESSOR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AIR SUCK &amp; STORE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AIR COMPRESSOR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AIR SUCK &amp; STORE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070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5080" y="19419"/>
            <a:ext cx="9508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Machinery &amp; Equipment's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9951152"/>
              </p:ext>
            </p:extLst>
          </p:nvPr>
        </p:nvGraphicFramePr>
        <p:xfrm>
          <a:off x="701721" y="942530"/>
          <a:ext cx="10979417" cy="555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101"/>
                <a:gridCol w="4998192"/>
                <a:gridCol w="2710746"/>
                <a:gridCol w="2273378"/>
              </a:tblGrid>
              <a:tr h="4355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Name Of Machine and utilities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Year of Installation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Make</a:t>
                      </a:r>
                      <a:endParaRPr lang="en-GB" dirty="0" smtClean="0"/>
                    </a:p>
                  </a:txBody>
                  <a:tcPr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13*13 MANUAL SUPER LATHE M/C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2000</a:t>
                      </a: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TABLE GRINDING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TABLE DRILLING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TAP CHECK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 FLOW TECHNOLOGIES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TAP CHECK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 FLOW TECHNOLOGIES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CNC LATHE MODEL: J 300  LM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DESIGNERS LTD.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CNC LATHE MODEL: J 300  LM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DESIGNERS LTD.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ELGi Air Compressor Manual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eLGI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BOLT TIGHTNING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 FLOW TECHNOLOGIES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BOLT TIGHTNING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 FLOW TECHNOLOGIES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BOLT TIGHTNING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 FLOW TECHNOLOGIES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HYDRAULIC THREAD ROLLING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THREAD AID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MANUAL DRILLING TAPPING MACHINE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RAJESH TRADERS RAJKOT</a:t>
                      </a:r>
                    </a:p>
                  </a:txBody>
                  <a:tcPr marL="9525" marR="9525" marT="9525" marB="0" anchor="ctr"/>
                </a:tc>
              </a:tr>
              <a:tr h="3577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AUTOMATIC PICK AND PLACE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ARROWS ENGINEERING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176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05080" y="19419"/>
            <a:ext cx="9508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Machinery &amp; Equipment's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036239"/>
              </p:ext>
            </p:extLst>
          </p:nvPr>
        </p:nvGraphicFramePr>
        <p:xfrm>
          <a:off x="701721" y="942530"/>
          <a:ext cx="10979417" cy="507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101"/>
                <a:gridCol w="4998192"/>
                <a:gridCol w="2710746"/>
                <a:gridCol w="2273378"/>
              </a:tblGrid>
              <a:tr h="592609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Name Of Machine and utilities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Year of Installation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Make</a:t>
                      </a:r>
                      <a:endParaRPr lang="en-GB" dirty="0" smtClean="0"/>
                    </a:p>
                  </a:txBody>
                  <a:tcPr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ROBOTIC ARM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ARROWS ENGINEERING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CNC LATHE MODEL: J 300  LM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DESIGNERS LTD.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45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CNC LATHE MODEL: J 300  LM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ACE DESIGNERS LTD.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46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CNC CYLINDRICAL GRINDING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HI-LIFE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47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BOLT TIGHTNING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 FLOW TECHNOLOGIES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48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DRILLING &amp; TAPPING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PRECICUT TOOL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49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U-DRILLING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PRECICUT TOOL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50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 SERIES ROTARY SCREW AIR COMPRESSOR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ELGI</a:t>
                      </a:r>
                    </a:p>
                  </a:txBody>
                  <a:tcPr marL="9525" marR="9525" marT="9525" marB="0" anchor="ctr"/>
                </a:tc>
              </a:tr>
              <a:tr h="4976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51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POLYTRON MILLING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TRISHUL</a:t>
                      </a:r>
                      <a:r>
                        <a:rPr 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111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2105" y="19419"/>
            <a:ext cx="87548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Measuring Instruments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18587"/>
              </p:ext>
            </p:extLst>
          </p:nvPr>
        </p:nvGraphicFramePr>
        <p:xfrm>
          <a:off x="701722" y="942530"/>
          <a:ext cx="10307321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286"/>
                <a:gridCol w="4984512"/>
                <a:gridCol w="1583841"/>
                <a:gridCol w="1583841"/>
                <a:gridCol w="1583841"/>
              </a:tblGrid>
              <a:tr h="626587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Sl</a:t>
                      </a:r>
                      <a:r>
                        <a:rPr lang="en-US" dirty="0" smtClean="0"/>
                        <a:t> no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MEASURING INSTRUMENT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Range/Size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Least</a:t>
                      </a:r>
                      <a:r>
                        <a:rPr lang="en-US" baseline="0" dirty="0" smtClean="0"/>
                        <a:t> Count</a:t>
                      </a:r>
                      <a:endParaRPr lang="en-GB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Make</a:t>
                      </a:r>
                      <a:endParaRPr lang="en-GB" dirty="0"/>
                    </a:p>
                  </a:txBody>
                  <a:tcPr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VMM MACHINE ( non-contact measuring machine)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400*200*100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ESSON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SURAFACE ROUGHNESS TESTER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DIGITAL VERNIER HEIGHT GUAGE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0 - 300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BAKER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DIGITAL VERNIER HEIGHT GUAGE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0 - 300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YUZUKI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DIGITAL VERNIER HEIGHT GUAGE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0 - 300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YUZUKI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VERNIER CALIPER DIGITAL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YUZUKI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VERNIER CALIPER DIGITAL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0 - 150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INSIZE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6302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580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868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2105" y="19419"/>
            <a:ext cx="87548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Measuring Instruments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018604"/>
              </p:ext>
            </p:extLst>
          </p:nvPr>
        </p:nvGraphicFramePr>
        <p:xfrm>
          <a:off x="504967" y="942530"/>
          <a:ext cx="11423176" cy="582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605"/>
                <a:gridCol w="3780327"/>
                <a:gridCol w="2074459"/>
                <a:gridCol w="1392072"/>
                <a:gridCol w="357571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Sl</a:t>
                      </a:r>
                      <a:r>
                        <a:rPr lang="en-US" sz="1800" dirty="0" smtClean="0"/>
                        <a:t> no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MEASURING INSTRUMENT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 </a:t>
                      </a:r>
                      <a:r>
                        <a:rPr lang="en-US" sz="1800" dirty="0" smtClean="0"/>
                        <a:t>Range/Size</a:t>
                      </a:r>
                      <a:endParaRPr lang="en-GB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 </a:t>
                      </a:r>
                      <a:r>
                        <a:rPr lang="en-US" sz="1800" dirty="0" smtClean="0"/>
                        <a:t>Least</a:t>
                      </a:r>
                      <a:r>
                        <a:rPr lang="en-US" sz="1800" baseline="0" dirty="0" smtClean="0"/>
                        <a:t> Count</a:t>
                      </a:r>
                      <a:endParaRPr lang="en-GB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Make</a:t>
                      </a:r>
                      <a:endParaRPr lang="en-GB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(DIGITAL)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18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19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0-25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21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OUTSIDE MICROMETER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25-50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MITUTOYO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22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SNAP GAUGE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13(-0.02)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SAMARTH 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GAUGE</a:t>
                      </a:r>
                      <a:r>
                        <a:rPr lang="en-GB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TOOLS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23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SNAP GAUGE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 (-0.1,-0.15)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SAMARTH GAUGE</a:t>
                      </a:r>
                      <a:r>
                        <a:rPr lang="en-GB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TOOLS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24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SNAP GAUGE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 (-0.05,-0.1)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SAMARTH GAUGE</a:t>
                      </a:r>
                      <a:r>
                        <a:rPr lang="en-GB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TOOLS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25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SNAP GAUGE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13(-0.02)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SAMARTH GAUGE</a:t>
                      </a:r>
                      <a:r>
                        <a:rPr lang="en-GB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TOOLS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26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SNAP GAUGE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 (-0.1,-0.15)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SAMARTH GAUGE</a:t>
                      </a:r>
                      <a:r>
                        <a:rPr lang="en-GB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 </a:t>
                      </a:r>
                      <a:r>
                        <a:rPr lang="en-GB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TOOLS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27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HARDNESS TESTING MACHINE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</a:tr>
              <a:tr h="2563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28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M8 THREAD PLUG GAUGE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BAKER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906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486571" y="224135"/>
            <a:ext cx="87548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List of Measuring Instruments</a:t>
            </a:r>
            <a:endParaRPr lang="en-GB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221129"/>
              </p:ext>
            </p:extLst>
          </p:nvPr>
        </p:nvGraphicFramePr>
        <p:xfrm>
          <a:off x="650543" y="1447495"/>
          <a:ext cx="10426890" cy="3383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222"/>
                <a:gridCol w="3981261"/>
                <a:gridCol w="1362893"/>
                <a:gridCol w="1270661"/>
                <a:gridCol w="3263853"/>
              </a:tblGrid>
              <a:tr h="81367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Sl</a:t>
                      </a:r>
                      <a:r>
                        <a:rPr lang="en-US" sz="1800" dirty="0" smtClean="0"/>
                        <a:t> no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/>
                        <a:t>MEASURING INSTRUMENT</a:t>
                      </a:r>
                      <a:endParaRPr lang="en-GB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 </a:t>
                      </a:r>
                      <a:r>
                        <a:rPr lang="en-US" sz="1800" dirty="0" smtClean="0"/>
                        <a:t>Range/Size</a:t>
                      </a:r>
                      <a:endParaRPr lang="en-GB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 </a:t>
                      </a:r>
                      <a:r>
                        <a:rPr lang="en-US" sz="1800" dirty="0" smtClean="0"/>
                        <a:t>Least</a:t>
                      </a:r>
                      <a:r>
                        <a:rPr lang="en-US" sz="1800" baseline="0" dirty="0" smtClean="0"/>
                        <a:t> Count</a:t>
                      </a:r>
                      <a:endParaRPr lang="en-GB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Make</a:t>
                      </a:r>
                      <a:endParaRPr lang="en-GB" sz="1800" dirty="0"/>
                    </a:p>
                  </a:txBody>
                  <a:tcPr/>
                </a:tc>
              </a:tr>
              <a:tr h="64253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M10 THREAD PLUG GAUGE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BAKER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SFL/TP-02</a:t>
                      </a:r>
                    </a:p>
                  </a:txBody>
                  <a:tcPr marL="9525" marR="9525" marT="9525" marB="0" anchor="ctr"/>
                </a:tc>
              </a:tr>
              <a:tr h="64253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M12 THREAD PLUG GAUGE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BAKER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SFL/TP-03</a:t>
                      </a:r>
                    </a:p>
                  </a:txBody>
                  <a:tcPr marL="9525" marR="9525" marT="9525" marB="0" anchor="ctr"/>
                </a:tc>
              </a:tr>
              <a:tr h="64253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SURFACE PLATE 640*400 MM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LUTHRA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SFL/SP-01</a:t>
                      </a:r>
                    </a:p>
                  </a:txBody>
                  <a:tcPr marL="9525" marR="9525" marT="9525" marB="0" anchor="ctr"/>
                </a:tc>
              </a:tr>
              <a:tr h="64253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BENCH CENTER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PRECESION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SFL/BC-01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38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</TotalTime>
  <Words>945</Words>
  <Application>Microsoft Office PowerPoint</Application>
  <PresentationFormat>Custom</PresentationFormat>
  <Paragraphs>457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Our Esteemed Clients For Fasteners</vt:lpstr>
      <vt:lpstr>Our Esteemed Clients For Shaft’s and Automotive Part’s</vt:lpstr>
      <vt:lpstr>SANGAM FASTENERS PLANT PHOTOS SHOP FLOOR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Aswini Kumar Patanaik/Injection &amp; Press /SIEL-P(C)/Associate/Samsung Electronics</dc:creator>
  <cp:lastModifiedBy>SFL01</cp:lastModifiedBy>
  <cp:revision>44</cp:revision>
  <dcterms:created xsi:type="dcterms:W3CDTF">2022-12-24T03:18:40Z</dcterms:created>
  <dcterms:modified xsi:type="dcterms:W3CDTF">2024-05-21T06:45:37Z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